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ae345466914efa" /><Relationship Type="http://schemas.openxmlformats.org/officeDocument/2006/relationships/extended-properties" Target="/docProps/app.xml" Id="Rf68e605b2f214c10" /><Relationship Type="http://schemas.openxmlformats.org/officeDocument/2006/relationships/officeDocument" Target="/ppt/presentation.xml" Id="Re71a07368c1044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8829f772864bee"/>
  </p:sldMasterIdLst>
  <p:notesMasterIdLst>
    <p:notesMasterId xmlns:r="http://schemas.openxmlformats.org/officeDocument/2006/relationships" r:id="Re137acdeb56445df"/>
  </p:notesMasterIdLst>
  <p:sldIdLst>
    <p:sldId xmlns:r="http://schemas.openxmlformats.org/officeDocument/2006/relationships" id="256" r:id="R96a4c6f57ab54013"/>
    <p:sldId xmlns:r="http://schemas.openxmlformats.org/officeDocument/2006/relationships" id="257" r:id="R0b9865af8bd04e8f"/>
    <p:sldId xmlns:r="http://schemas.openxmlformats.org/officeDocument/2006/relationships" id="258" r:id="Rea133d8e886445f3"/>
    <p:sldId xmlns:r="http://schemas.openxmlformats.org/officeDocument/2006/relationships" id="259" r:id="Rbe4cb9840ea44aed"/>
    <p:sldId xmlns:r="http://schemas.openxmlformats.org/officeDocument/2006/relationships" id="260" r:id="R5ac050538be748d4"/>
    <p:sldId xmlns:r="http://schemas.openxmlformats.org/officeDocument/2006/relationships" id="261" r:id="Raa52ee8b3e04403b"/>
    <p:sldId xmlns:r="http://schemas.openxmlformats.org/officeDocument/2006/relationships" id="262" r:id="Rf6c57a26d975492f"/>
    <p:sldId xmlns:r="http://schemas.openxmlformats.org/officeDocument/2006/relationships" id="263" r:id="Rd897ca108f5a43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b4e6b757444da" /><Relationship Type="http://schemas.openxmlformats.org/officeDocument/2006/relationships/slideMaster" Target="/ppt/slideMasters/slideMaster1.xml" Id="R988829f772864bee" /><Relationship Type="http://schemas.openxmlformats.org/officeDocument/2006/relationships/notesMaster" Target="/ppt/notesMasters/notesMaster1.xml" Id="Re137acdeb56445df" /><Relationship Type="http://schemas.openxmlformats.org/officeDocument/2006/relationships/presProps" Target="/ppt/presProps.xml" Id="Re220e929af884c6f" /><Relationship Type="http://schemas.openxmlformats.org/officeDocument/2006/relationships/tableStyles" Target="/ppt/tableStyles.xml" Id="R0c561ff6769d4218" /><Relationship Type="http://schemas.openxmlformats.org/officeDocument/2006/relationships/slide" Target="/ppt/slides/slide1.xml" Id="R96a4c6f57ab54013" /><Relationship Type="http://schemas.openxmlformats.org/officeDocument/2006/relationships/slide" Target="/ppt/slides/slide2.xml" Id="R0b9865af8bd04e8f" /><Relationship Type="http://schemas.openxmlformats.org/officeDocument/2006/relationships/slide" Target="/ppt/slides/slide3.xml" Id="Rea133d8e886445f3" /><Relationship Type="http://schemas.openxmlformats.org/officeDocument/2006/relationships/slide" Target="/ppt/slides/slide4.xml" Id="Rbe4cb9840ea44aed" /><Relationship Type="http://schemas.openxmlformats.org/officeDocument/2006/relationships/slide" Target="/ppt/slides/slide5.xml" Id="R5ac050538be748d4" /><Relationship Type="http://schemas.openxmlformats.org/officeDocument/2006/relationships/slide" Target="/ppt/slides/slide6.xml" Id="Raa52ee8b3e04403b" /><Relationship Type="http://schemas.openxmlformats.org/officeDocument/2006/relationships/slide" Target="/ppt/slides/slide7.xml" Id="Rf6c57a26d975492f" /><Relationship Type="http://schemas.openxmlformats.org/officeDocument/2006/relationships/slide" Target="/ppt/slides/slide8.xml" Id="Rd897ca108f5a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e911694e447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f8de2d75b54dac" /><Relationship Type="http://schemas.openxmlformats.org/officeDocument/2006/relationships/notesMaster" Target="/ppt/notesMasters/notesMaster1.xml" Id="R507cbf0c81c9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2f670e3594a29" /><Relationship Type="http://schemas.openxmlformats.org/officeDocument/2006/relationships/notesMaster" Target="/ppt/notesMasters/notesMaster1.xml" Id="Rc9ec507d01bd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b8fc96762a473d" /><Relationship Type="http://schemas.openxmlformats.org/officeDocument/2006/relationships/notesMaster" Target="/ppt/notesMasters/notesMaster1.xml" Id="R8cb0e53cfc72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d0039af67543c3" /><Relationship Type="http://schemas.openxmlformats.org/officeDocument/2006/relationships/notesMaster" Target="/ppt/notesMasters/notesMaster1.xml" Id="R63b94064586e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3c0bf21aa24ae9" /><Relationship Type="http://schemas.openxmlformats.org/officeDocument/2006/relationships/notesMaster" Target="/ppt/notesMasters/notesMaster1.xml" Id="Rb11ae010ec1045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aa92af48104179" /><Relationship Type="http://schemas.openxmlformats.org/officeDocument/2006/relationships/notesMaster" Target="/ppt/notesMasters/notesMaster1.xml" Id="Rdaee77a4d22044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0c302c23164c0d" /><Relationship Type="http://schemas.openxmlformats.org/officeDocument/2006/relationships/notesMaster" Target="/ppt/notesMasters/notesMaster1.xml" Id="Rb28d3059101045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f7f948b6e24099" /><Relationship Type="http://schemas.openxmlformats.org/officeDocument/2006/relationships/notesMaster" Target="/ppt/notesMasters/notesMaster1.xml" Id="Rd5d0c3780cc442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Duración sugerida: 5 a 10 minutos; esta pauta cabe en unos 7 minutos más preguntas. Presentamos Pedidos360 y explicamos cómo se autentica el usuario, cómo se protegen los endpoints y cómo RabbitMQ procesa eventos con colas de mensajes y DLQ. La evaluación es individual: cada estudiante debe fundamentar las decisiones y mostrar evidencia en la nube.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(45 s) Mostrar en AWS la instancia y confirmar que frontend y backend están activos e integrados. El frontend React se sirve desde Nginx en EC2. El usuario inicia sesión en Entra ID; luego el API Gateway valida el JWT y distribuye las rutas a user-service, item-service y category-service. Los servicios persisten en la base relacional y usan RabbitMQ para eventos asíncronos. El servicio administrador opera sobre el broker.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(50 s) En el portal de Entra ID mostrar el tenant, la aplicación registrada y al menos un usuario registrado. Explicar el flujo OAuth 2.0 / OpenID Connect Authorization Code con PKCE a través de MSAL: el usuario inicia sesión, MSAL obtiene un token JWT con scopes de lectura y escritura y el frontend lo envía al API. HTTPS en Nginx habilita el contexto seguro que requiere el flujo en el navegador; mencionar que el certificado actual es de despliegue/prueba y que se mejoraría con uno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(50 s) En la consola de AWS mostrar el API Gateway desplegado, el JWT authorizer y las rutas /users/{proxy+}, /items/{proxy+} y /categories/{proxy+}. CORS define orígenes, métodos y headers; OPTIONS está sin authorizer para el preflight. Probar una ruta protegida sin token y mostrar 401, luego repetirla con token emitido por Entra ID y mostrar una respuesta exitosa. Aclarar que API Gateway enruta al backend, no reemplaza la lógica de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(40 s) Mostrar en Docker Hub las imágenes y en EC2 los contenedores activos. Las imágenes usan build multi-stage: Java se compila con JDK/Maven y ejecuta el JAR en JRE; React/Vite genera estáticos servidos por Nginx. Se ejecutan con Docker y --restart unless-stopped para recuperarse de reinicios del host. Esta es una política del daemon Docker, no una unidad systemd.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(90 s) Mostrar docker-compose levantando los dos nodos y abrir la consola de RabbitMQ. El código declara el exchange topic shopping.events, el direct shopping.dlx, cuatro colas durables de eventos y sus cuatro DLQ; esto supera las tres colas requeridas por la pauta, así que señalar tres ejemplos visibles y aclarar que hay una cuarta ruta. Cada consumidor está implementado con @RabbitListener y agrupado en paquetes messaging/consumer. application.properties configura tres intentos (intervalo inicial 2 s, multiplicador 2) y default-requeue-rejected=false, de modo que un error no reencola indefinidamente y el argumento dead-letter envía a DLQ. Mostrar un mensaje encolado o la prueba controlada de error y el conteo de la DLQ. La configuración está separada en RabbitConfig, aunque los nombres de cola todavía están escritos directamente allí; como mejora, centralizarlos todos en propiedades. La pauta pide una API admin REST: mostrar las operaciones existentes de crear/eliminar y bindings; revisar y mencionar honestamente validaciones de entradas. En el repositorio la API admin está en version1, así que confirmar cuál artefacto se despliega antes de la exposición.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(45 s) En AWS enseñar Elastic IP, reglas del Security Group, instancias y servicios activos. Desde la consola, navegador o Postman, ejecutar la misma llamada al endpoint protegido primero sin credencial (401) y después con el JWT de Entra ID (respuesta 2xx). Explicar que el frontend obtiene el token mediante MSAL y que API Gateway comprueba issuer y audience antes de enviar la solicitud al servicio.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(35 s) Cerrar resumiendo la identidad con Entra ID, los endpoints protegidos y el procesamiento asíncrono con RabbitMQ. Para completar la demostración según la pauta, confirmar que se mostró: tenant y usuario, API Gateway y rutas, llamada del frontend con token, respuesta 401/2xx, frontend/backend activos en la nube, dos nodos, tres colas con DLQ, exchanges topic y direct y docker-compose. Como siguientes mejoras, centralizar nombres de colas y bindings en configuración, validar mejor los parámetros del administrador, usar certificado HTTPS real, guardar secretos fuera del código y probar más nodos. Duración estimada de esta secuencia: aproximadamente 7 minutos, ajustable a 5–10 minutos más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b3bbb835147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674ed4ad54d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81505235147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4bc0a1e3946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d979c38a24b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98703b5ab41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59C57A-45DD-40CB-8567-3CDC71C6C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D1B05D-4B8D-4593-8FEB-64E4AA14C9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6EE8E2-41BB-4AF3-A314-0AE54494C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2CDFD5-758F-486E-9090-BF640478B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8488D4-371E-4040-A766-0C8EC00D68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290329-9565-4469-AAA8-9C62947D2B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6285C7-E655-496E-8C0D-090C5C1D5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E12D89-98A1-4A65-A979-2C49EE6719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AE5A09-3A43-4F79-80DA-9083FD461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AB43D5-C28E-4A6D-8186-E9B49F122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fb1dec2984e22" /><Relationship Type="http://schemas.openxmlformats.org/officeDocument/2006/relationships/slideLayout" Target="/ppt/slideLayouts/slideLayout1.xml" Id="R5a3d3de8240c4791" /><Relationship Type="http://schemas.openxmlformats.org/officeDocument/2006/relationships/slideLayout" Target="/ppt/slideLayouts/slideLayout2.xml" Id="Rc5766174fcc441eb" /><Relationship Type="http://schemas.openxmlformats.org/officeDocument/2006/relationships/slideLayout" Target="/ppt/slideLayouts/slideLayout3.xml" Id="Rbb9b9dd587c44580" /><Relationship Type="http://schemas.openxmlformats.org/officeDocument/2006/relationships/slideLayout" Target="/ppt/slideLayouts/slideLayout4.xml" Id="Rdf0eb109722a44e3" /><Relationship Type="http://schemas.openxmlformats.org/officeDocument/2006/relationships/slideLayout" Target="/ppt/slideLayouts/slideLayout5.xml" Id="R1c925e62f155418d" /><Relationship Type="http://schemas.openxmlformats.org/officeDocument/2006/relationships/slideLayout" Target="/ppt/slideLayouts/slideLayout6.xml" Id="R126cc33f94d944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d3de8240c4791"/>
    <p:sldLayoutId xmlns:r="http://schemas.openxmlformats.org/officeDocument/2006/relationships" id="2147483650" r:id="Rc5766174fcc441eb"/>
    <p:sldLayoutId xmlns:r="http://schemas.openxmlformats.org/officeDocument/2006/relationships" id="2147483651" r:id="Rbb9b9dd587c44580"/>
    <p:sldLayoutId xmlns:r="http://schemas.openxmlformats.org/officeDocument/2006/relationships" id="2147483652" r:id="Rdf0eb109722a44e3"/>
    <p:sldLayoutId xmlns:r="http://schemas.openxmlformats.org/officeDocument/2006/relationships" id="2147483653" r:id="R1c925e62f155418d"/>
    <p:sldLayoutId xmlns:r="http://schemas.openxmlformats.org/officeDocument/2006/relationships" id="2147483654" r:id="R126cc33f94d944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1a9a2fad9424b" /><Relationship Type="http://schemas.openxmlformats.org/officeDocument/2006/relationships/notesSlide" Target="/ppt/notesSlides/notesSlide1.xml" Id="R4760d822f8ad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417326c384633" /><Relationship Type="http://schemas.openxmlformats.org/officeDocument/2006/relationships/notesSlide" Target="/ppt/notesSlides/notesSlide2.xml" Id="R652489594da24c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cb271de3a47fb" /><Relationship Type="http://schemas.openxmlformats.org/officeDocument/2006/relationships/notesSlide" Target="/ppt/notesSlides/notesSlide3.xml" Id="R66d9b8809457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639d5a38e407b" /><Relationship Type="http://schemas.openxmlformats.org/officeDocument/2006/relationships/notesSlide" Target="/ppt/notesSlides/notesSlide4.xml" Id="R62391c21048241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868baae9747c8" /><Relationship Type="http://schemas.openxmlformats.org/officeDocument/2006/relationships/notesSlide" Target="/ppt/notesSlides/notesSlide5.xml" Id="R2cff577df70040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1f6dce9234156" /><Relationship Type="http://schemas.openxmlformats.org/officeDocument/2006/relationships/notesSlide" Target="/ppt/notesSlides/notesSlide6.xml" Id="Rc2f98c19c7a048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a021feedd4d6e" /><Relationship Type="http://schemas.openxmlformats.org/officeDocument/2006/relationships/notesSlide" Target="/ppt/notesSlides/notesSlide7.xml" Id="Ra6c00c846af849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8eea41e55432c" /><Relationship Type="http://schemas.openxmlformats.org/officeDocument/2006/relationships/notesSlide" Target="/ppt/notesSlides/notesSlide8.xml" Id="Rc38a06a317aa42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32D5B-54B9-4D51-8DAF-95E66F5C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6C6"/>
          </a:solidFill>
          <a:ln xmlns:a="http://schemas.openxmlformats.org/drawingml/2006/main" w="0">
            <a:solidFill>
              <a:srgbClr val="42C6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E9221-DF94-427C-8992-0013576E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2C6C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C6C6"/>
                </a:solidFill>
                <a:latin typeface="Arial"/>
                <a:ea typeface="Arial"/>
                <a:cs typeface="Arial"/>
              </a:rPr>
              <a:t>DSY1107  ·  PROYECTO DE ARQUITECTURA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2A30BD0-3B01-4D02-9C5F-01FBBD7F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Pedidos360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A1514-A76D-4170-8EB5-36EE2A72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D5E5E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5E5EC"/>
                </a:solidFill>
                <a:latin typeface="Arial"/>
                <a:ea typeface="Arial"/>
                <a:cs typeface="Arial"/>
              </a:rPr>
              <a:t>Plataforma cloud-native para gestión de pedidos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F622E-5E57-460B-AD27-D9E3C23D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C6C6"/>
          </a:solidFill>
          <a:ln xmlns:a="http://schemas.openxmlformats.org/drawingml/2006/main" w="0">
            <a:solidFill>
              <a:srgbClr val="42C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BE563-64C6-43E5-9EF1-B61E7BB3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9C4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C4D0"/>
                </a:solidFill>
                <a:latin typeface="Arial"/>
                <a:ea typeface="Arial"/>
                <a:cs typeface="Arial"/>
              </a:rPr>
              <a:t>Presentan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776AC-404A-4CA5-BCCE-7DF6F186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 nombre  ·  Javier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615AA-ACB9-4AC9-B5B7-3E2A092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C4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4D0"/>
                </a:solidFill>
                <a:latin typeface="Arial"/>
                <a:ea typeface="Arial"/>
                <a:cs typeface="Arial"/>
              </a:rPr>
              <a:t>Exposición técnica · 5–10 min · identidad, API, microservicios y mensajería</a:t>
            </a:r>
          </a:p>
        </p:txBody>
      </p:sp>
    </p:spTree>
    <p:extLst>
      <p:ext uri="{BB962C8B-B14F-4D97-AF65-F5344CB8AC3E}">
        <p14:creationId xmlns:p14="http://schemas.microsoft.com/office/powerpoint/2010/main" val="96083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BB0E15-28C0-436C-9414-AA78B8816488}"/>
              </a:ext>
            </a:extLst>
          </p:cNvPr>
          <p:cNvCxnSpPr>
            <a:stCxn xmlns:a="http://schemas.openxmlformats.org/drawingml/2006/main" id="38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8191500" y="54054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7B2"/>
            </a:solidFill>
            <a:prstDash val="solid"/>
            <a:head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01B596-8297-4773-9C11-0FFECC81849B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6572250" y="4286250"/>
            <a:ext cx="8286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02235"/>
            </a:solidFill>
            <a:prstDash val="solid"/>
            <a:head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30867A-152C-4573-9E16-F6C0DDF52A46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1500188" y="2514600"/>
            <a:ext cx="95250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9845"/>
            </a:solidFill>
            <a:prstDash val="solid"/>
            <a:head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7F395B-CAE4-4776-AE0F-58AE20FA6C30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8534400" y="2728913"/>
            <a:ext cx="990600" cy="985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79845"/>
            </a:solidFill>
            <a:prstDash val="solid"/>
            <a:head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250589-8E1E-4095-90CD-422AB9F14FB4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8534400" y="2728913"/>
            <a:ext cx="990600" cy="166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A1736C-C991-446F-8C9D-12AD8FCBEAA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534400" y="2076450"/>
            <a:ext cx="990600" cy="652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67B2"/>
            </a:solidFill>
            <a:prstDash val="solid"/>
            <a:head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11BAB1-FAC2-44AE-BF4B-6D9B72D7B7C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381625" y="2066925"/>
            <a:ext cx="876300" cy="1647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79845"/>
            </a:solidFill>
            <a:prstDash val="solid"/>
            <a:head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7FC083-F8DA-4ECB-8BE9-4A01FF7BF67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381625" y="2066925"/>
            <a:ext cx="87630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43A6E3-9528-47D6-B969-B1E57F0CE1D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381625" y="2066925"/>
            <a:ext cx="8763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67B2"/>
            </a:solidFill>
            <a:prstDash val="solid"/>
            <a:head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C60EAF-296F-4015-AF39-99C1645512F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76500" y="2066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sp>
        <p:nvSpPr>
          <p:cNvPr id="5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7992F47-090C-4C1A-924A-216BDD91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Arquitectura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FF578-F8B3-471E-85AB-149091CC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ED5E-E383-4C51-846A-062357A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37FD1-0159-46A6-BE8C-3A4A1F5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952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1B33B-F534-4B17-AA36-1652373A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F44FF-21DE-4C03-8B2D-3B98B6CD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049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D3B86-5491-43D5-8A2F-BC662FD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React · Nginx · EC2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3B001-BFCC-442C-8571-ECBC33E0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2143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FC68A-63C8-490A-AC8B-7212925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solidFill>
              <a:srgbClr val="E798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55251-B352-4E78-AD5F-A8FD7396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90975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Microsoft Entra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DEFB8-2F7B-48CF-9EE1-F23E4746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053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Tenant · OIDC · JWT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046E0-BB01-4299-921F-9C544F8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21431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23D64-FDA4-43C2-BE0F-DED81DE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9B470-48D1-4F9E-B3CD-03B6628F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04975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AWS 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08E72-12E3-421B-9014-020BA51C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1857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JWT authorizer · CORS</a:t>
            </a:r>
          </a:p>
        </p:txBody>
      </p:sp>
      <p:sp>
        <p:nvSpPr>
          <p:cNvPr id="16" name="microservices-boundary">
            <a:extLst xmlns:a="http://schemas.openxmlformats.org/drawingml/2006/main">
              <a:ext uri="{FF2B5EF4-FFF2-40B4-BE49-F238E27FC236}">
                <a16:creationId xmlns:a16="http://schemas.microsoft.com/office/drawing/2014/main" id="{4C4E3FAC-87FD-4F4F-84E4-9279CBC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57300"/>
            <a:ext cx="27051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08A1F-8F3E-483D-85DC-1C7FEA4B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525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MICROSERVICIOS EN 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7E93B-82FE-4F1C-A291-2A2E4BAE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62125"/>
            <a:ext cx="2276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3B182-1EAA-45E5-8075-ABF839DF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621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3ED9C-7663-4582-BCF9-555B9A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199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user-service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DD83D-D7CB-419B-82FD-3900C881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6217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Usuarios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4C94A-2B7D-4D77-8EEE-DAD3ED1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1275"/>
            <a:ext cx="2276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4EFC4-5485-44C3-9200-097839A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8127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3693A-5173-4A6E-B42D-1C73A34B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199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item-service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822AB-3479-4EA4-A92A-EEC17368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813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Ítems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C652F-20B5-4FCC-A038-62635408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00425"/>
            <a:ext cx="2276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D41B9-D0D4-4C13-BC09-9FEF282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00425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solidFill>
              <a:srgbClr val="E798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F6A3C-AC46-4EF7-9E00-2105BC23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86150"/>
            <a:ext cx="199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category-service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97C8E-7718-412F-A553-1D89C94C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0047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Categorías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79676-B5B5-4512-A51F-42746264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20478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F7B24-E0BD-4324-9BAE-EA8A0022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666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5"/>
          </a:solidFill>
          <a:ln xmlns:a="http://schemas.openxmlformats.org/drawingml/2006/main" w="0">
            <a:solidFill>
              <a:srgbClr val="10223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7F5CF6-3DD7-4FFB-A073-374D0765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1762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9EE48-1246-4EC7-8576-2349E84D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38425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Base de datos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B91E7-0DE4-45D4-BEE3-FF28E872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91100"/>
            <a:ext cx="3238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39374-C561-4387-85B3-628DC2B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91100"/>
            <a:ext cx="666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solidFill>
              <a:srgbClr val="E798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E2FEE-03BA-4F5B-AF32-8EEC6CE4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7682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RabbitMQ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3A333C-89AB-49BF-A15C-ABA15122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Clúster interno · 2 nodos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0CAC0D-6B37-466C-B903-C2E4079F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991100"/>
            <a:ext cx="26860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C92DC-6271-428F-AE81-127EF227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991100"/>
            <a:ext cx="666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E3B446-CBBB-4B53-B700-316DC27D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076825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rabbit-service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0D9298-87F4-4288-8F12-472AEDC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391150"/>
            <a:ext cx="2400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Administración de recursos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362C71-BD44-4933-887D-981164B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9845"/>
                </a:solidFill>
                <a:latin typeface="Arial"/>
                <a:ea typeface="Arial"/>
                <a:cs typeface="Arial"/>
              </a:rPr>
              <a:t>Inicio de sesión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62DF0A-6414-4231-896A-C99E256E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4307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8C8C"/>
                </a:solidFill>
                <a:latin typeface="Arial"/>
                <a:ea typeface="Arial"/>
                <a:cs typeface="Arial"/>
              </a:rPr>
              <a:t>REST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78D323-81D1-4906-9E4B-59E5593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339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</p:spTree>
    <p:extLst>
      <p:ext uri="{BB962C8B-B14F-4D97-AF65-F5344CB8AC3E}">
        <p14:creationId xmlns:p14="http://schemas.microsoft.com/office/powerpoint/2010/main" val="88992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9C475-71D8-4E4D-9EDC-AA0466FFDC27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20125" y="2724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583BF-B818-41CE-BDCA-C4AB93FAE56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724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38711-825E-483A-9FBC-BA9569B6BD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2724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sp>
        <p:nvSpPr>
          <p:cNvPr id="3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2074E57-38EB-4865-964D-6206739F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Identidad y tenant de Entra 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770A8-A94C-497D-A08F-4FE3D7C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DD3C6-F235-46B2-B6C9-D82DA43A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A4814-8279-4F7E-A720-2FAD368C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Tenant Microsoft Entra ID del proyecto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FF556-9ED7-4F00-A31F-F51A7450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8337D-3602-464E-A904-C7979C6C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40BFC-6E60-4E83-8562-CCB5CD1F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DBFA5-F7A3-4694-A806-55C7DA71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47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App registrada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D8107-84CC-4C84-A4F8-D773EFB7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SPA · redirect URI HTTPS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47A89-DABD-4174-A42C-807F32BE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B9D82-5E60-4A77-B3DB-CA25C4F3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47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7D0D-1B95-44EC-B201-E699095B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47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56A48-5671-467D-AC5D-DD69C6A1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47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MSAL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A1EE0-D7CA-47BC-A610-F72A017A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7177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Inicio de sesión OIDC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710AE-E43F-4003-918D-2916321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AFE2E-93FA-41A6-B1D8-D528351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8A602-4D9D-45CC-996F-86E76728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1FAEE-F7A3-4455-BF0C-20B0D93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59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Authorization 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EB33B-9A5E-4458-9364-2464822F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7177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PKCE protege el flujo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18678-E439-4333-BB91-1A85DBA7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333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8295E-4254-4BE4-8904-99561F0D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479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81DDDE-C90A-4A79-9386-B91AEEF2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47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5CF78-F36D-4C3B-8F5C-8D35075D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2479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JWT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910AB-0148-42D6-94EC-B2B3F450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71775"/>
            <a:ext cx="200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Token enviado a la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60D21-5BF5-4C6B-BD1C-BB4935A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Scopes de la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108E4-3D09-421E-9DC0-17DC17B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Users.Read  ·  Users.Write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C787BE-5D63-44AD-9289-CB92534A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195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Items.Read  ·  Items.Write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D6B7F-9B10-4A06-9832-C8001D9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95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Categories.Read  ·  Categories.Write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DE6CB-1152-45E4-A358-1025D856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solidFill>
              <a:srgbClr val="E798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5FBF8E-9AC8-4126-8090-FA6DC511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HTTPS en Nginx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77E8AF-B601-4C02-BC9A-CF34A48B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Certificado TLS y contexto seguro para MSAL/PKCE.</a:t>
            </a:r>
          </a:p>
        </p:txBody>
      </p:sp>
    </p:spTree>
    <p:extLst>
      <p:ext uri="{BB962C8B-B14F-4D97-AF65-F5344CB8AC3E}">
        <p14:creationId xmlns:p14="http://schemas.microsoft.com/office/powerpoint/2010/main" val="64375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3C8F1-3F9A-4E28-B9BA-7ED9335F9A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29050" y="24669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sp>
        <p:nvSpPr>
          <p:cNvPr id="3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7180309-0C5E-471F-A273-B0512849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AWS API Gateway y rutas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EE392-F9A3-42FB-8937-6D8EAD4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B47B2-7C58-4D6C-A30D-3112C93B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6A27F-30B2-4253-BCB6-883F391A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647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Una entrada HTTPS para los servicios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153D2-DEFC-4552-B6B6-01EAB43A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03F04-70EB-43F2-B834-5FEFB90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FE278-7AD8-4E6B-9A82-A744B6E7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JWT authorizer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B43BC-1E5E-4A9C-BC62-3242D308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Issuer y audiencia de Entra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47257-7B9F-4DC2-99FB-A3FAABB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503DB-EA4D-4C8D-817E-E2A0A59E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5B08C-F8F4-40E4-8B1C-5B2BC22F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API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5805F-4FFB-407A-8382-3484CAE1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Rutas proxy → Docker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FF75D-E019-492C-A205-0BFA9077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DCA2D-1A27-40AD-8988-CA800B9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/users/{proxy+}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DE0C-87DE-43CC-824B-992456F5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9525">
            <a:solidFill>
              <a:srgbClr val="BE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00BDC-F277-4F9D-84DB-F5F2207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user-service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FCD31-38C5-407F-89D0-65E3F869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/items/{proxy+}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637B8-04E7-4EB1-B828-A0A053C1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00575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9525">
            <a:solidFill>
              <a:srgbClr val="BED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AF046-E277-4C04-A573-0018B0DF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100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item-service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C4D0E-B8EA-4B42-81B3-2E45E8C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714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/categories/{proxy+}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9FAF7-B881-4121-91D4-C1E6B493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054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9525">
            <a:solidFill>
              <a:srgbClr val="BE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0A8A0-F5AA-4895-A57D-1684F0A6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1490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category-service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7CB93-0F74-4928-B5F2-FEDC6BF7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0">
            <a:solidFill>
              <a:srgbClr val="BED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C45615-FA0B-4DFD-A0A0-C8BF84E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F2B31-F7E1-4F25-A91D-E315D906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90775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Orígenes, métodos y headers configurados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46B6B-E3C8-4AF2-A923-7C6A784B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1875"/>
            <a:ext cx="1762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11430">
            <a:solidFill>
              <a:srgbClr val="B4D8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8BB6E-23D8-4B40-B369-D3F5D99F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576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875D"/>
                </a:solidFill>
                <a:latin typeface="Arial"/>
                <a:ea typeface="Arial"/>
                <a:cs typeface="Arial"/>
              </a:rPr>
              <a:t>OPTIONS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E6D98-B365-401A-BDB6-B2356DBD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672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Sin authorizer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87EB5-F317-4A8A-89EF-B4A2678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Las demás solicitudes requieren un JWT válido.</a:t>
            </a:r>
          </a:p>
        </p:txBody>
      </p:sp>
    </p:spTree>
    <p:extLst>
      <p:ext uri="{BB962C8B-B14F-4D97-AF65-F5344CB8AC3E}">
        <p14:creationId xmlns:p14="http://schemas.microsoft.com/office/powerpoint/2010/main" val="2132260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6F9D1-F69C-4568-AE07-E8C3CC0B769B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667875" y="3133725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1055DC-6AFF-4869-A4F3-7CCCF765F461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7143750" y="2657475"/>
            <a:ext cx="1095375" cy="1495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79845"/>
            </a:solidFill>
            <a:prstDash val="solid"/>
            <a:head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F3F3F-A8BB-4785-8025-859394ADECE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143750" y="2514600"/>
            <a:ext cx="10953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D67B2"/>
            </a:solidFill>
            <a:prstDash val="solid"/>
            <a:head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423BB-7752-40C6-878E-5C4942B9741A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43300" y="41529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9DF8B-B796-460A-90A6-92ED512832D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43300" y="25146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sp>
        <p:nvSpPr>
          <p:cNvPr id="3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D4FA617-C198-4EA0-A6B8-6E77847E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Docker y publicación de imágenes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C4418-0FCF-49A7-AA19-C5FCEC1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CF5B6-7CF8-4BEC-9231-B639C2BB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34ECE-ECD7-426C-A32A-40B3F34E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Build multi-stage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D7791-B280-4BD8-96F1-ABA7660C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8B517-26B1-4E96-B58C-688303E0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E61DC-4098-48C0-8430-437C1E99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Backend ·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696B3-54FE-4735-BF42-8D13857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JDK + Maven Wrapper</a:t>
            </a:r>
          </a:p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compila el servicio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32481-481A-4589-8610-9A97D68C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71445-4BC5-425D-B73D-F77E3655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431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1E33D-0394-4318-AE7D-CDDDBE9F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288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Backend ·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27E6C-9C7E-41BA-975D-75E3662C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JRE + JAR</a:t>
            </a:r>
          </a:p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imagen liviana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9BB1E-A142-41BF-AA30-2532E9AA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79E35-6629-414B-B2D3-37C111FD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solidFill>
              <a:srgbClr val="E798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2CC16-1D62-4ABC-AF37-97A3B9C4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Frontend ·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4B81E-9888-4867-A90F-0F0E1BBA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Node.js + Vite</a:t>
            </a:r>
          </a:p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genera archivos estáticos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5B81D-67D6-4259-8847-EE8CD0DB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96EDF-0525-4B1C-9B37-FFF56404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B8F5C-854C-4604-947B-77B64C1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671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Frontend ·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1ABA5-F15F-4A80-80C5-FAF760AA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Nginx sirve la aplicación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80392-E15F-4C8A-9C3B-BE37346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C087F-8BBC-4294-AB20-DD7DC86D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8122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5"/>
          </a:solidFill>
          <a:ln xmlns:a="http://schemas.openxmlformats.org/drawingml/2006/main" w="0">
            <a:solidFill>
              <a:srgbClr val="1022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D9157-4FF7-4BAC-B8E0-B4FD01C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669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Docker Hub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1F7EB-EA45-4A7D-8169-2E27FF05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812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Imágenes versionadas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B2A7F-38C4-41FC-BA03-5D65346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95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64982-53D7-4AB9-876F-B7C0B02A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1952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A179A-C67D-42F6-8A84-25CDC24D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05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EC2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765CF-955E-47ED-BD25-DAD96DF6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195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Descarga y ejecuta contenedores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C9AD09-49AC-4404-BDA9-7A569D0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docker run -d --restart unless-stopped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32619-EAB2-4500-8DB3-4D5D85C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Docker aplica la política de reinicio y mantiene el contenedor activo.</a:t>
            </a:r>
          </a:p>
        </p:txBody>
      </p:sp>
    </p:spTree>
    <p:extLst>
      <p:ext uri="{BB962C8B-B14F-4D97-AF65-F5344CB8AC3E}">
        <p14:creationId xmlns:p14="http://schemas.microsoft.com/office/powerpoint/2010/main" val="1391938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3B3182-884C-4465-8518-D140724598F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401050" y="2828925"/>
            <a:ext cx="60960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99603-7DBB-4B88-982C-1F890E1E69F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401050" y="2828925"/>
            <a:ext cx="60960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AC6494-FEC1-4201-878C-7B965FE6FB95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8401050" y="2428875"/>
            <a:ext cx="6096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CA812B-0EF6-4F25-A102-06405E6B396B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401050" y="1724025"/>
            <a:ext cx="60960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44D411-7DBA-408C-BF8A-0EF6A084FE58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5886450" y="2828925"/>
            <a:ext cx="70485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5031E4-1EA8-464B-AB20-E6B85CF1E84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5886450" y="2828925"/>
            <a:ext cx="704850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1673C4-A0CE-4E75-8AAA-FFD6A82E474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86450" y="2428875"/>
            <a:ext cx="7048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F4943A-02D1-4B18-966F-2914ABFC214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86450" y="1724025"/>
            <a:ext cx="70485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64343"/>
            </a:solidFill>
            <a:prstDash val="solid"/>
            <a:headEnd type="triangle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CE7D72-44F7-4875-B04F-1DF5AE094B9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552700" y="2819400"/>
            <a:ext cx="55245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265067-8D29-4EFB-8994-AF7FBE16579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52700" y="2819400"/>
            <a:ext cx="552450" cy="314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31DD50-717D-4C45-AAD7-2881411DA22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552700" y="2428875"/>
            <a:ext cx="55245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99AB89-CF1E-4BC1-872E-418C4DC579C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552700" y="1724025"/>
            <a:ext cx="55245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78C8C"/>
            </a:solidFill>
            <a:prstDash val="solid"/>
            <a:headEnd type="triangle" w="sm" len="sm"/>
          </a:ln>
        </p:spPr>
      </p:cxnSp>
      <p:sp>
        <p:nvSpPr>
          <p:cNvPr id="6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34F469F-5405-40D0-A400-9BCCE60D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RabbitMQ: eventos y 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DF9DB-5B4D-4368-B80A-C2299DF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310B1-5B59-47ED-9245-06BCEFD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F3743-E3CE-4F9F-89C7-9955C245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1442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Clúster de 2 nodos en docker-compose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ABE8C-CB90-4070-8125-B1935A57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24193-1A3B-4CA9-B434-B1148B00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1DEF0-A653-4E06-8161-C55E4003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shopping.events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3A4CD-2F38-4CC6-86D5-3E7E5F3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Exchange topic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30393-DC44-4837-9213-264D2BA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38275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71AF7-0281-470A-9801-C75B180C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3827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07486-33C0-4555-ABC5-250A579D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24000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items.user-events.queue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54A48-A56F-4547-86B4-0B8AC2B2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38325"/>
            <a:ext cx="2495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user.*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8F56E-ACA5-44BC-A879-D370D7D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43125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01817-0D1D-4E37-ADE9-660D9A9C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431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845"/>
          </a:solidFill>
          <a:ln xmlns:a="http://schemas.openxmlformats.org/drawingml/2006/main" w="0">
            <a:solidFill>
              <a:srgbClr val="E798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FC33C-044A-46B9-8E9A-601C9AF9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28850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categories.item-events.queue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709F2-6D0B-449B-BE77-4E9AB043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43175"/>
            <a:ext cx="2495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item.created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0BE25-F629-465B-AF24-65E10D76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47975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CA6B8-2BD8-4E58-B985-A9C0FB2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4797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5"/>
          </a:solidFill>
          <a:ln xmlns:a="http://schemas.openxmlformats.org/drawingml/2006/main" w="0">
            <a:solidFill>
              <a:srgbClr val="1022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7C4A5-685F-478B-BF46-6BB8FB73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33700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users.item-events.queue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BB327-5654-444C-8ED3-B51ADC3C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8025"/>
            <a:ext cx="2495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item.purchased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88B33-E56E-41E8-80CC-1EE86746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0786A-D694-447E-9F0C-2831D27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1FB00-0A7B-4791-B463-6DB695D4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2495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items.category-events.queue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06BA4-561C-41EF-BD44-9F9EEEC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52875"/>
            <a:ext cx="24955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category.deleted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E480C-1CED-45E9-A849-B8F89E8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F0091-BD27-4D52-A374-73BDF07F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343"/>
          </a:solidFill>
          <a:ln xmlns:a="http://schemas.openxmlformats.org/drawingml/2006/main" w="0">
            <a:solidFill>
              <a:srgbClr val="B643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60426-55D3-4112-BE61-57C0D08E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0507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shopping.dlx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A7073-A902-4067-A499-3AD8A97E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Exchange direct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D2D7C-E0E3-4E71-9E4B-5F068ED3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38275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7A378-CCE1-4E19-BD86-563814D0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3827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343"/>
          </a:solidFill>
          <a:ln xmlns:a="http://schemas.openxmlformats.org/drawingml/2006/main" w="0">
            <a:solidFill>
              <a:srgbClr val="B643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ECE907-6EFD-4DC0-A58C-F8E098C4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2400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items.user-events.dlq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1863A-2EE2-4CAB-BF31-062CE380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38325"/>
            <a:ext cx="2228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DLQ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55A879-F6B5-4F60-88F4-0336D78C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9F82F-EB9D-4A07-8FFD-8D4F25D0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343"/>
          </a:solidFill>
          <a:ln xmlns:a="http://schemas.openxmlformats.org/drawingml/2006/main" w="0">
            <a:solidFill>
              <a:srgbClr val="B6434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DF284-E025-4204-A9E3-A22442D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2885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categories.item-events.dlq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C3471D-FD02-43BD-AE72-6905C2AC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43175"/>
            <a:ext cx="2228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DLQ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C2C99-00E9-4736-B06F-F7465BFD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47975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95AE70-C029-419D-B783-81266598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4797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343"/>
          </a:solidFill>
          <a:ln xmlns:a="http://schemas.openxmlformats.org/drawingml/2006/main" w="0">
            <a:solidFill>
              <a:srgbClr val="B6434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821E2D-DE3A-4ABD-8763-13E78C51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users.item-events.dlq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6D80F3-13D2-42F9-A517-BA50556B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48025"/>
            <a:ext cx="2228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DLQ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A30089-96AA-40FA-9C5A-7F952CD8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52825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F43A46-5B13-4BAB-AC8E-904CED79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52825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343"/>
          </a:solidFill>
          <a:ln xmlns:a="http://schemas.openxmlformats.org/drawingml/2006/main" w="0">
            <a:solidFill>
              <a:srgbClr val="B643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700A56-352A-40C7-96E7-6260E0D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items.category-events.dlq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0F5A0D-1CE3-4C40-8BF5-6C71C92B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52875"/>
            <a:ext cx="2228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29"/>
          </a:bodyPr>
          <a:lstStyle xmlns:a="http://schemas.openxmlformats.org/drawingml/2006/main">
            <a:def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DLQ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8A3BD3-AA09-45E1-8FFC-EEF6C33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57675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4343"/>
                </a:solidFill>
                <a:latin typeface="Arial"/>
                <a:ea typeface="Arial"/>
                <a:cs typeface="Arial"/>
              </a:rPr>
              <a:t>4 colas declaradas en el código (la pauta solicita demostrar al menos 3)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4783CC-B844-4B51-997F-B3ADABB2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2 nodos RabbitMQ en docker-compose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B4784A-B6F0-4A73-A550-011D508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493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ED0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846A6C-3FF5-4641-91F5-BB2049A5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86300"/>
            <a:ext cx="666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7B2"/>
          </a:solidFill>
          <a:ln xmlns:a="http://schemas.openxmlformats.org/drawingml/2006/main" w="0">
            <a:solidFill>
              <a:srgbClr val="2D67B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BEF60C-2007-4B20-A561-E1CDA5E5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72025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API administradora RabbitMQ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279E76-8ED1-4FD7-9344-0517384E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86350"/>
            <a:ext cx="464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312"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REST para administrar colas,</a:t>
            </a:r>
          </a:p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exchanges y bindings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C73A59-0AB3-49E2-AF6E-095A8E19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@RabbitListener · reintentos ×3 · errores → DLQ</a:t>
            </a:r>
          </a:p>
        </p:txBody>
      </p:sp>
    </p:spTree>
    <p:extLst>
      <p:ext uri="{BB962C8B-B14F-4D97-AF65-F5344CB8AC3E}">
        <p14:creationId xmlns:p14="http://schemas.microsoft.com/office/powerpoint/2010/main" val="1474305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D66A537-8720-47A0-9163-DA598E82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Seguridad y despliegue en AWS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5D2F0-4371-407A-A095-01BE30CF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66565-1FD5-4707-A289-CDF4DAF7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6AD3D-3F19-4E9A-A32E-52FBCE3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EC2 pública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0BF4B-E630-4E45-A87B-81870C0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8C8C"/>
                </a:solidFill>
                <a:latin typeface="Arial"/>
                <a:ea typeface="Arial"/>
                <a:cs typeface="Arial"/>
              </a:rPr>
              <a:t>Elastic 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679AD-8FDB-4D7D-AB21-CDE3C3B7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Dirección estable para el sitio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66253-74D4-4A2D-8247-877B4693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9525">
            <a:solidFill>
              <a:srgbClr val="BE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F7EC9-F457-41FF-BBE5-FF94D567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8C8C"/>
                </a:solidFill>
                <a:latin typeface="Arial"/>
                <a:ea typeface="Arial"/>
                <a:cs typeface="Arial"/>
              </a:rPr>
              <a:t>Security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9C67C-54B6-4752-A308-BD106E56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Reglas de entrada limitan los puertos expuestos.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7A0CD-1DC8-4F08-9C37-E549D43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Nginx termina HTTPS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23815-AC7B-4BCD-A383-EEA5F5EF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Certificado TLS para el acceso público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F106D-078A-43BD-9D8C-839A936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66850"/>
            <a:ext cx="19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0">
            <a:solidFill>
              <a:srgbClr val="BE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39212-81EB-4019-8B94-3C52014E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3827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Validación 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F817-EDDD-470D-8331-6C02AA02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Prueba de acceso al 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03864-47EF-478E-8CCF-4B50DA28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14288">
            <a:solidFill>
              <a:srgbClr val="E6B9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13BF6-1453-4231-93F5-E756E05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643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64343"/>
                </a:solidFill>
                <a:latin typeface="Arial"/>
                <a:ea typeface="Arial"/>
                <a:cs typeface="Arial"/>
              </a:rPr>
              <a:t>401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02D52-50DA-400C-AD52-6F1F10BF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Sin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C11BC-0025-476F-AF46-99C3673C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14288">
            <a:solidFill>
              <a:srgbClr val="B4D8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841CD-83F7-4E23-BC73-2F5D440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887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875D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DC8A6-5A5E-4B3E-B3AE-7E5675FF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Con JWT válido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DD6EE-B74C-4E7E-A80E-71AE59EA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Entra ID emite el token y API Gateway valida issuer, audiencia y firma.</a:t>
            </a:r>
          </a:p>
        </p:txBody>
      </p:sp>
    </p:spTree>
    <p:extLst>
      <p:ext uri="{BB962C8B-B14F-4D97-AF65-F5344CB8AC3E}">
        <p14:creationId xmlns:p14="http://schemas.microsoft.com/office/powerpoint/2010/main" val="1373717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2F47E8FA-7917-41EF-A6FC-BE8E5D97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Conclusión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5325-8350-442A-9522-C9FED2CA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C"/>
          </a:solidFill>
          <a:ln xmlns:a="http://schemas.openxmlformats.org/drawingml/2006/main" w="0">
            <a:solidFill>
              <a:srgbClr val="078C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10C47-150C-468F-9C0E-29ECB3B4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62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879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7915E-F388-4E2F-93BB-2F8D4113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78C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8C8C"/>
                </a:solidFill>
                <a:latin typeface="Arial"/>
                <a:ea typeface="Arial"/>
                <a:cs typeface="Arial"/>
              </a:rPr>
              <a:t>Logrado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28138-0B3B-46FF-8D60-EF197DB1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048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OIDC con MSAL y PKCE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JWT authorizer para la API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Servicios Docker conectados a MariaDB</a:t>
            </a:r>
          </a:p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Eventos RabbitMQ con DLQ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B1622-D709-4264-BDA2-0643543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DA"/>
          </a:solidFill>
          <a:ln xmlns:a="http://schemas.openxmlformats.org/drawingml/2006/main" w="0">
            <a:solidFill>
              <a:srgbClr val="BE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9F085-AB23-4B90-A95E-9A3E6F42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76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E798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79845"/>
                </a:solidFill>
                <a:latin typeface="Arial"/>
                <a:ea typeface="Arial"/>
                <a:cs typeface="Arial"/>
              </a:rPr>
              <a:t>Mejoras siguientes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D3814-A842-431F-AA31-FEED092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Centralizar nombres de colas y bindings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Validar entradas y explicitar ACK/NACK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Certificado TLS real y secretos administrados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Más nodos RabbitMQ y pruebas de fallo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2D00D-B06D-4483-8A11-760ACC9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715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2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235"/>
                </a:solidFill>
                <a:latin typeface="Arial"/>
                <a:ea typeface="Arial"/>
                <a:cs typeface="Arial"/>
              </a:rPr>
              <a:t>Demo: tenant y usuario · API Gateway · 401/2xx · 2 nodos · 3 DLQ</a:t>
            </a:r>
          </a:p>
        </p:txBody>
      </p:sp>
    </p:spTree>
    <p:extLst>
      <p:ext uri="{BB962C8B-B14F-4D97-AF65-F5344CB8AC3E}">
        <p14:creationId xmlns:p14="http://schemas.microsoft.com/office/powerpoint/2010/main" val="1328382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2026-10-18T22:15:23.7770000Z</dcterms:created>
  <dcterms:modified xsi:type="dcterms:W3CDTF">2026-10-18T22:15:23.7780000Z</dcterms:modified>
</coreProperties>
</file>